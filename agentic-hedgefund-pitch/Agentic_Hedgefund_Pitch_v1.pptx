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이 덱의 핵심은 성과 숫자보다 먼저 구조적 경쟁우위를 설명하는 것입니다. 저희는 사람이 잘하는 판단을 남기고, 반복적·고비용 업무를 시스템화했습니다.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자금 배분자 입장에서는 “누가 운용하느냐”보다 “어떻게 반복적으로 운용되느냐”가 중요합니다. 구조가 좋으면 인력 변동에도 품질 편차를 줄일 수 있습니다.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엔진의 목적은 인간을 대체하는 것이 아니라, 인간의 고가치 의사결정을 증폭시키는 것입니다. 결과적으로 리서치 속도와 커버리지가 동시에 개선됩니다.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중요한 것은 ‘자동화 자체’가 아니라 ‘학습 속도’입니다. 루프가 짧아질수록, 같은 시간에 더 많은 검증과 개선이 가능해집니다.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전통 모델은 AUM 증가 시 인력과 고정비가 빠르게 증가합니다. 저희는 시스템 중심으로 확장해, 비용 대비 알파 탐색량을 높입니다.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투자자는 높은 수익률보다 ‘치명적 손실 회피 능력’을 더 오래 기억합니다. 저희는 리스크를 사람의 감정이 아닌 규칙과 체계로 다룹니다.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이 구조는 스타 인력 1인 의존을 줄이고, 운영 표준화를 강화합니다. 투자자 입장에서는 인력 교체 시에도 프로세스 연속성이 핵심입니다.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결국 자금 배분자는 “이 운용을 고객에게 설명할 수 있는가”를 봅니다. 저희는 성과 스토리뿐 아니라 운용 과정 자체의 설명 가능성을 제공합니다.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저희는 ‘한 번에 크게’보다 ‘작게 시작해 검증 후 확장’ 접근을 선호합니다. 이는 투자자와 운용사 모두의 시행착오 비용을 줄입니다.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오늘의 목적은 모든 의문을 끝내는 것이 아니라, 다음 단계로 가는 합의를 만드는 것입니다. 검증 가능한 파일럿부터 시작해 신뢰를 쌓겠습니다.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Agentic Hedgefund Pitch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Sales-focused deck for capital allocators</a:t>
            </a:r>
          </a:p>
          <a:p>
            <a:r>
              <a:t>(v1 generated from contents.md)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1. Executive Thesis: “AI-native Alpha Factory for Allocators”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b="1" sz="1800">
                <a:solidFill>
                  <a:srgbClr val="142850"/>
                </a:solidFill>
              </a:defRPr>
            </a:pPr>
            <a:r>
              <a:t>Key Message: 우리는 단순 퀀트 펀드가 아니라, **AI-native quant research engine** 기반의 **alpha factory**다.</a:t>
            </a:r>
          </a:p>
          <a:p>
            <a:pPr>
              <a:defRPr sz="1600"/>
            </a:pPr>
            <a:r>
              <a:t>시장 복잡성 증대 속에서 인간 중심 리서치만으로는 속도/범위의 한계 존재</a:t>
            </a:r>
          </a:p>
          <a:p>
            <a:pPr>
              <a:defRPr sz="1600"/>
            </a:pPr>
            <a:r>
              <a:t>Agentic Hedgefund는 리서치-개발-검증-개선의 전 과정을 자동화해 일관된 실행력 확보</a:t>
            </a:r>
          </a:p>
          <a:p>
            <a:pPr>
              <a:defRPr sz="1600"/>
            </a:pPr>
            <a:r>
              <a:t>목표는 “좋은 아이디어 1개”가 아니라 **지속적으로 알파를 생산하는 시스템**</a:t>
            </a:r>
          </a:p>
          <a:p>
            <a:pPr>
              <a:defRPr sz="1600"/>
            </a:pPr>
            <a:r>
              <a:t>투자자에게 제공하는 것은 단일 인력 의존이 아닌 **확장 가능한 팀 아키텍처**</a:t>
            </a:r>
          </a:p>
          <a:p>
            <a:pPr>
              <a:defRPr sz="1600"/>
            </a:pPr>
            <a:r>
              <a:t>**Suggested Visual**: 중앙에 “AI-native Alpha Factory” 허브 + 4개 스포크(Research, Dev, Validation, Governance)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2. Allocator Problem: Why Traditional Setups Break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b="1" sz="1800">
                <a:solidFill>
                  <a:srgbClr val="142850"/>
                </a:solidFill>
              </a:defRPr>
            </a:pPr>
            <a:r>
              <a:t>Key Message: 전통 운용 조직은 아이디어 생성과 검증 사이클이 느리고 비싸며, 거버넌스 일관성이 약하다.</a:t>
            </a:r>
          </a:p>
          <a:p>
            <a:pPr>
              <a:defRPr sz="1600"/>
            </a:pPr>
            <a:r>
              <a:t>인력 중심 모델은 리서치 생산성이 인원 수에 선형적으로 묶임</a:t>
            </a:r>
          </a:p>
          <a:p>
            <a:pPr>
              <a:defRPr sz="1600"/>
            </a:pPr>
            <a:r>
              <a:t>전략 검증 시간 장기화로 시장 기회 포착이 지연</a:t>
            </a:r>
          </a:p>
          <a:p>
            <a:pPr>
              <a:defRPr sz="1600"/>
            </a:pPr>
            <a:r>
              <a:t>성과 부진 구간에서 리스크 통제가 개인 역량에 과도 의존</a:t>
            </a:r>
          </a:p>
          <a:p>
            <a:pPr>
              <a:defRPr sz="1600"/>
            </a:pPr>
            <a:r>
              <a:t>투자자는 ‘스타 매니저’보다 **재현 가능한 프로세스**를 선호하는 추세</a:t>
            </a:r>
          </a:p>
          <a:p>
            <a:pPr>
              <a:defRPr sz="1600"/>
            </a:pPr>
            <a:r>
              <a:t>**Suggested Visual**: Traditional vs Agentic 비교 테이블 (Speed, Cost, Consistency, Governance)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3. Philosophy Core: AI-native Quant Research Engine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b="1" sz="1800">
                <a:solidFill>
                  <a:srgbClr val="142850"/>
                </a:solidFill>
              </a:defRPr>
            </a:pPr>
            <a:r>
              <a:t>Key Message: 핵심 자산은 전략 하나가 아니라, **AI가 상시 가동되는 리서치 엔진**이다.</a:t>
            </a:r>
          </a:p>
          <a:p>
            <a:pPr>
              <a:defRPr sz="1600"/>
            </a:pPr>
            <a:r>
              <a:t>시장 데이터/가설 탐색을 AI-native 워크플로로 상시 운영</a:t>
            </a:r>
          </a:p>
          <a:p>
            <a:pPr>
              <a:defRPr sz="1600"/>
            </a:pPr>
            <a:r>
              <a:t>동일 리서치 프레임으로 아이디어를 빠르게 비교·우선순위화</a:t>
            </a:r>
          </a:p>
          <a:p>
            <a:pPr>
              <a:defRPr sz="1600"/>
            </a:pPr>
            <a:r>
              <a:t>모델과 시그널의 지식 축적이 조직 자산으로 누적</a:t>
            </a:r>
          </a:p>
          <a:p>
            <a:pPr>
              <a:defRPr sz="1600"/>
            </a:pPr>
            <a:r>
              <a:t>“사람+AI 협업”으로 아이디어 밀도와 검증 범위를 동시에 확대</a:t>
            </a:r>
          </a:p>
          <a:p>
            <a:pPr>
              <a:defRPr sz="1600"/>
            </a:pPr>
            <a:r>
              <a:t>**Suggested Visual**: Engine 다이어그램 (Input Data → Hypothesis Mining → Candidate Strategies → Ranked Queue)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4. End-to-End Automation Loop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b="1" sz="1800">
                <a:solidFill>
                  <a:srgbClr val="142850"/>
                </a:solidFill>
              </a:defRPr>
            </a:pPr>
            <a:r>
              <a:t>Key Message: **Research → Dev → Backtest → Self-feedback** 루프 자동화가 알파 생산의 일관성을 만든다.</a:t>
            </a:r>
          </a:p>
          <a:p>
            <a:pPr>
              <a:defRPr sz="1600"/>
            </a:pPr>
            <a:r>
              <a:t>리서치 산출물이 즉시 개발/검증 파이프라인으로 연결</a:t>
            </a:r>
          </a:p>
          <a:p>
            <a:pPr>
              <a:defRPr sz="1600"/>
            </a:pPr>
            <a:r>
              <a:t>백테스트 결과가 자동으로 가설 품질 평가에 반영</a:t>
            </a:r>
          </a:p>
          <a:p>
            <a:pPr>
              <a:defRPr sz="1600"/>
            </a:pPr>
            <a:r>
              <a:t>실패한 가설도 구조적으로 기록되어 재실수 비용 절감</a:t>
            </a:r>
          </a:p>
          <a:p>
            <a:pPr>
              <a:defRPr sz="1600"/>
            </a:pPr>
            <a:r>
              <a:t>반복 사이클 단축으로 시장 변화 대응력 강화</a:t>
            </a:r>
          </a:p>
          <a:p>
            <a:pPr>
              <a:defRPr sz="1600"/>
            </a:pPr>
            <a:r>
              <a:t>**Suggested Visual**: 원형 루프 다이어그램(4단계) + 각 단계 SLA 시간 표기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5. Alpha Factory Economics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b="1" sz="1800">
                <a:solidFill>
                  <a:srgbClr val="142850"/>
                </a:solidFill>
              </a:defRPr>
            </a:pPr>
            <a:r>
              <a:t>Key Message: **Alpha factory** 구조는 전략 생산 단가를 낮추고, 유의미한 아이디어 수를 확장한다.</a:t>
            </a:r>
          </a:p>
          <a:p>
            <a:pPr>
              <a:defRPr sz="1600"/>
            </a:pPr>
            <a:r>
              <a:t>반복 작업 자동화로 리서치/개발의 단위 비용(idea-to-test cost) 절감</a:t>
            </a:r>
          </a:p>
          <a:p>
            <a:pPr>
              <a:defRPr sz="1600"/>
            </a:pPr>
            <a:r>
              <a:t>동일 인력으로 더 많은 전략 후보를 관리 가능</a:t>
            </a:r>
          </a:p>
          <a:p>
            <a:pPr>
              <a:defRPr sz="1600"/>
            </a:pPr>
            <a:r>
              <a:t>시장 국면별 대체 시나리오를 사전 준비해 운영 탄력성 강화</a:t>
            </a:r>
          </a:p>
          <a:p>
            <a:pPr>
              <a:defRPr sz="1600"/>
            </a:pPr>
            <a:r>
              <a:t>규모가 커질수록 운영 효율이 개선되는 learning-by-system 구조</a:t>
            </a:r>
          </a:p>
          <a:p>
            <a:pPr>
              <a:defRPr sz="1600"/>
            </a:pPr>
            <a:r>
              <a:t>**Suggested Visual**: 규모 증가에 따른 Unit Cost 감소 곡선 + Candidate Throughput 증가 그래프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6. Governance Under Uncertainty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b="1" sz="1800">
                <a:solidFill>
                  <a:srgbClr val="142850"/>
                </a:solidFill>
              </a:defRPr>
            </a:pPr>
            <a:r>
              <a:t>Key Message: 불확실성은 회피 대상이 아니라, **Stress / OOS / Kill Rules**로 관리하는 운영 대상이다.</a:t>
            </a:r>
          </a:p>
          <a:p>
            <a:pPr>
              <a:defRPr sz="1600"/>
            </a:pPr>
            <a:r>
              <a:t>전략 승인 전 Stress Test와 Out-of-Sample(OOS) 검증을 표준 절차화</a:t>
            </a:r>
          </a:p>
          <a:p>
            <a:pPr>
              <a:defRPr sz="1600"/>
            </a:pPr>
            <a:r>
              <a:t>실거래 단계에서 사전 정의된 Kill Rules 기반의 기계적 통제</a:t>
            </a:r>
          </a:p>
          <a:p>
            <a:pPr>
              <a:defRPr sz="1600"/>
            </a:pPr>
            <a:r>
              <a:t>예외 상황 대응 프로토콜(감시·경보·축소·중단) 명문화</a:t>
            </a:r>
          </a:p>
          <a:p>
            <a:pPr>
              <a:defRPr sz="1600"/>
            </a:pPr>
            <a:r>
              <a:t>성과보다 생존을 우선하는 downside-first 운영 원칙</a:t>
            </a:r>
          </a:p>
          <a:p>
            <a:pPr>
              <a:defRPr sz="1600"/>
            </a:pPr>
            <a:r>
              <a:t>**Suggested Visual**: 3-layer Risk Governance 방패형 구조 (Pre-trade / Live-trade / Escalation)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7. Team Architecture: “Hire 1, Acquire a Scalable Team”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b="1" sz="1800">
                <a:solidFill>
                  <a:srgbClr val="142850"/>
                </a:solidFill>
              </a:defRPr>
            </a:pPr>
            <a:r>
              <a:t>Key Message: 한 명을 채용한다는 것은 한 개 기능이 아니라 **확장 가능한 팀 구조**를 확보하는 것과 같다.</a:t>
            </a:r>
          </a:p>
          <a:p>
            <a:pPr>
              <a:defRPr sz="1600"/>
            </a:pPr>
            <a:r>
              <a:t>AI agents가 분석·실험·리포팅의 다수 역할을 병렬 수행</a:t>
            </a:r>
          </a:p>
          <a:p>
            <a:pPr>
              <a:defRPr sz="1600"/>
            </a:pPr>
            <a:r>
              <a:t>핵심 인력은 우선순위 결정과 리스크 판단에 집중</a:t>
            </a:r>
          </a:p>
          <a:p>
            <a:pPr>
              <a:defRPr sz="1600"/>
            </a:pPr>
            <a:r>
              <a:t>온보딩/인수인계 지식이 시스템에 축적되어 조직 의존성 분산</a:t>
            </a:r>
          </a:p>
          <a:p>
            <a:pPr>
              <a:defRPr sz="1600"/>
            </a:pPr>
            <a:r>
              <a:t>인재 확보 난이도가 높은 시장에서 운영 지속성 우위 확보</a:t>
            </a:r>
          </a:p>
          <a:p>
            <a:pPr>
              <a:defRPr sz="1600"/>
            </a:pPr>
            <a:r>
              <a:t>**Suggested Visual**: 1 Human PM + Multi-agent Pods 조직도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8. Allocator Fit: Why This Works for Wrap-product Capital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b="1" sz="1800">
                <a:solidFill>
                  <a:srgbClr val="142850"/>
                </a:solidFill>
              </a:defRPr>
            </a:pPr>
            <a:r>
              <a:t>Key Message: 이 전략은 랩/일임 자금이 요구하는 **투명성, 통제 가능성, 보고 용이성**에 최적화되어 있다.</a:t>
            </a:r>
          </a:p>
          <a:p>
            <a:pPr>
              <a:defRPr sz="1600"/>
            </a:pPr>
            <a:r>
              <a:t>룰 기반 운영으로 투자위원회 설명 가능성(explainability) 제고</a:t>
            </a:r>
          </a:p>
          <a:p>
            <a:pPr>
              <a:defRPr sz="1600"/>
            </a:pPr>
            <a:r>
              <a:t>월간/분기 리포팅 체계를 거버넌스 프레임과 정렬</a:t>
            </a:r>
          </a:p>
          <a:p>
            <a:pPr>
              <a:defRPr sz="1600"/>
            </a:pPr>
            <a:r>
              <a:t>전략 수명주기(도입-확장-축소-중단)가 문서화되어 배분 판단 용이</a:t>
            </a:r>
          </a:p>
          <a:p>
            <a:pPr>
              <a:defRPr sz="1600"/>
            </a:pPr>
            <a:r>
              <a:t>운용사-판매사-최종고객 간 커뮤니케이션 마찰 감소</a:t>
            </a:r>
          </a:p>
          <a:p>
            <a:pPr>
              <a:defRPr sz="1600"/>
            </a:pPr>
            <a:r>
              <a:t>**Suggested Visual**: Allocator Requirements 매트릭스(Transparency, Control, Reporting, Scalability)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9. Deployment Model &amp; Partnership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b="1" sz="1800">
                <a:solidFill>
                  <a:srgbClr val="142850"/>
                </a:solidFill>
              </a:defRPr>
            </a:pPr>
            <a:r>
              <a:t>Key Message: 단계형 도입(Discovery → Pilot → Scale)으로 초기 검증 리스크를 낮추고 실행 속도를 높인다.</a:t>
            </a:r>
          </a:p>
          <a:p>
            <a:pPr>
              <a:defRPr sz="1600"/>
            </a:pPr>
            <a:r>
              <a:t>Phase 1: 공통 KPI 및 리스크 한도 정의 (2-4주)</a:t>
            </a:r>
          </a:p>
          <a:p>
            <a:pPr>
              <a:defRPr sz="1600"/>
            </a:pPr>
            <a:r>
              <a:t>Phase 2: 제한된 자본으로 파일럿 운용 및 운영 검증</a:t>
            </a:r>
          </a:p>
          <a:p>
            <a:pPr>
              <a:defRPr sz="1600"/>
            </a:pPr>
            <a:r>
              <a:t>Phase 3: 성과/리스크 기준 충족 시 점진적 규모 확대</a:t>
            </a:r>
          </a:p>
          <a:p>
            <a:pPr>
              <a:defRPr sz="1600"/>
            </a:pPr>
            <a:r>
              <a:t>정기 리뷰 거버넌스(월간 운영, 분기 전략, 반기 재승인) 제안</a:t>
            </a:r>
          </a:p>
          <a:p>
            <a:pPr>
              <a:defRPr sz="1600"/>
            </a:pPr>
            <a:r>
              <a:t>**Suggested Visual**: 3단계 로드맵 타임라인 + Gate 조건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10. Close: Decision Ask &amp; Next Steps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b="1" sz="1800">
                <a:solidFill>
                  <a:srgbClr val="142850"/>
                </a:solidFill>
              </a:defRPr>
            </a:pPr>
            <a:r>
              <a:t>Key Message: 지금 필요한 것은 대규모 약정이 아니라, **검증 가능한 첫 단계 합의**다.</a:t>
            </a:r>
          </a:p>
          <a:p>
            <a:pPr>
              <a:defRPr sz="1600"/>
            </a:pPr>
            <a:r>
              <a:t>제안: 60일 내 공동 파일럿 설계 및 런칭 여부 결정</a:t>
            </a:r>
          </a:p>
          <a:p>
            <a:pPr>
              <a:defRPr sz="1600"/>
            </a:pPr>
            <a:r>
              <a:t>요청: 투자위원회 대상 90분 Deep-dive 세션 일정 확정</a:t>
            </a:r>
          </a:p>
          <a:p>
            <a:pPr>
              <a:defRPr sz="1600"/>
            </a:pPr>
            <a:r>
              <a:t>산출물: KPI, 리스크 가드레일, 리포팅 템플릿 패키지 제공</a:t>
            </a:r>
          </a:p>
          <a:p>
            <a:pPr>
              <a:defRPr sz="1600"/>
            </a:pPr>
            <a:r>
              <a:t>목표: 신뢰 가능한 Track Formation 이후 단계적 AUM 확장</a:t>
            </a:r>
          </a:p>
          <a:p>
            <a:pPr>
              <a:defRPr sz="1600"/>
            </a:pPr>
            <a:r>
              <a:t>**Suggested Visual**: “Decision Ladder” (Today → Deep Dive → Pilot → Scale)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